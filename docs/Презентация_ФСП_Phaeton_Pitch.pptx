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9"/>
    <p:sldId id="272" r:id="rId20"/>
    <p:sldId id="273" r:id="rId21"/>
    <p:sldId id="274" r:id="rId22"/>
    <p:sldId id="275" r:id="rId23"/>
    <p:sldId id="276" r:id="rId24"/>
    <p:sldId id="279" r:id="rId27"/>
    <p:sldId id="280" r:id="rId28"/>
    <p:sldId id="281" r:id="rId29"/>
    <p:sldId id="282" r:id="rId30"/>
    <p:sldId id="285" r:id="rId33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3" Type="http://schemas.openxmlformats.org/officeDocument/2006/relationships/slide" Target="slides/slide30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688"/>
          <c:y val="0.126935"/>
          <c:w val="0.926086"/>
          <c:h val="0.6674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.000000"/>
      </c:valAx>
      <c:spPr bwMode="auto">
        <a:prstGeom prst="rect">
          <a:avLst/>
        </a:prstGeom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030341"/>
          <c:y val="0.938201"/>
          <c:w val="0.947401"/>
          <c:h val="0.061799"/>
        </c:manualLayout>
      </c:layout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365505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2913215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02.10.2026</a:t>
            </a:fld>
            <a:endParaRPr lang="ru-RU"/>
          </a:p>
        </p:txBody>
      </p:sp>
      <p:sp>
        <p:nvSpPr>
          <p:cNvPr id="814165693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920498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312424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8342204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C36768-7CF8-42FD-9E80-2692D236EF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DA2CBD-6D0D-017E-685B-30E2B789F8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565933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880099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51627440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40403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6552540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45973961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3CE2-7299-24C8-53DE-002B785130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1FB7FE-A895-F44A-356E-BF7217E3C6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670E02-A48D-58FC-C8DC-B96509642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9463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662775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91223229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0F9BC6-52E7-BFF0-BE26-E09B15AA84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7BFC7-5503-E472-4888-B132E781CB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945F26-F774-F35D-0FBF-5632396F9B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0E38DD-22E4-A1C8-06BE-FF0D3D383A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0A0F4D-1051-E6B3-9B0D-577C50CE0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BC6D62-ADB4-26B2-2BEC-D1AA833B78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2833C7-E137-5B3C-4A06-03591FF0C5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EBB55-AABC-0721-4B73-0A129B8D59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18C2BC-E76F-7FA1-B9C9-3488709EDB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43969-9030-717F-1BB7-701E4607B8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CD3CC6-1F52-09EF-1C7C-E7E926048D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885147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674478737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84556085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9637171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61363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07045596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01260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11.10.2026</a:t>
            </a:fld>
            <a:endParaRPr lang="ru-RU"/>
          </a:p>
        </p:txBody>
      </p:sp>
      <p:sp>
        <p:nvSpPr>
          <p:cNvPr id="3419188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6197793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9</a:t>
            </a:fld>
            <a:endParaRPr lang="ru-RU"/>
          </a:p>
        </p:txBody>
      </p:sp>
      <p:sp>
        <p:nvSpPr>
          <p:cNvPr id="160729153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378309137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774601061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6790091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211098578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601021038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40656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11.10.2026</a:t>
            </a:fld>
            <a:endParaRPr lang="ru-RU"/>
          </a:p>
        </p:txBody>
      </p:sp>
      <p:sp>
        <p:nvSpPr>
          <p:cNvPr id="126543373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4533045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6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784242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8254929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11.10.2026</a:t>
            </a:fld>
            <a:endParaRPr lang="ru-RU"/>
          </a:p>
        </p:txBody>
      </p:sp>
      <p:sp>
        <p:nvSpPr>
          <p:cNvPr id="11404329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7907973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12</a:t>
            </a:fld>
            <a:endParaRPr lang="ru-RU"/>
          </a:p>
        </p:txBody>
      </p:sp>
      <p:sp>
        <p:nvSpPr>
          <p:cNvPr id="144979956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527296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43658231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89646896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11.10.2026</a:t>
            </a:fld>
            <a:endParaRPr lang="ru-RU"/>
          </a:p>
        </p:txBody>
      </p:sp>
      <p:sp>
        <p:nvSpPr>
          <p:cNvPr id="152875174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6995742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67611809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61508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2933428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591008450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201705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37895799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11.10.2026</a:t>
            </a:fld>
            <a:endParaRPr lang="ru-RU"/>
          </a:p>
        </p:txBody>
      </p:sp>
      <p:sp>
        <p:nvSpPr>
          <p:cNvPr id="747315730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59559028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0262336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32085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11.10.2026</a:t>
            </a:fld>
            <a:endParaRPr lang="ru-RU"/>
          </a:p>
        </p:txBody>
      </p:sp>
      <p:sp>
        <p:nvSpPr>
          <p:cNvPr id="127551408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9387823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67196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83726270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1397994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8935335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11.10.2026</a:t>
            </a:fld>
            <a:endParaRPr lang="ru-RU"/>
          </a:p>
        </p:txBody>
      </p:sp>
      <p:sp>
        <p:nvSpPr>
          <p:cNvPr id="5152772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7965000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47294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11.10.2026</a:t>
            </a:fld>
            <a:endParaRPr lang="ru-RU"/>
          </a:p>
        </p:txBody>
      </p:sp>
      <p:sp>
        <p:nvSpPr>
          <p:cNvPr id="59729354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178054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2176955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80362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11.10.2026</a:t>
            </a:fld>
            <a:endParaRPr lang="ru-RU"/>
          </a:p>
        </p:txBody>
      </p:sp>
      <p:sp>
        <p:nvSpPr>
          <p:cNvPr id="211100755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8857764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18</a:t>
            </a:fld>
            <a:endParaRPr lang="ru-RU"/>
          </a:p>
        </p:txBody>
      </p:sp>
      <p:sp>
        <p:nvSpPr>
          <p:cNvPr id="1299938954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721761699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332088302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792693316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99923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515388243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38104946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7526726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755325306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221508063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873739984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64569491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3250217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4438878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662201306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74908775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1022448557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643759880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214602344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35754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11.10.2026</a:t>
            </a:fld>
            <a:endParaRPr lang="ru-RU"/>
          </a:p>
        </p:txBody>
      </p:sp>
      <p:sp>
        <p:nvSpPr>
          <p:cNvPr id="58476723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1518602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19</a:t>
            </a:fld>
            <a:endParaRPr lang="ru-RU"/>
          </a:p>
        </p:txBody>
      </p:sp>
      <p:sp>
        <p:nvSpPr>
          <p:cNvPr id="1688832505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24001223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515975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99594599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27608444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09071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11.10.2026</a:t>
            </a:fld>
            <a:endParaRPr lang="ru-RU"/>
          </a:p>
        </p:txBody>
      </p:sp>
      <p:sp>
        <p:nvSpPr>
          <p:cNvPr id="134571387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87483267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81528384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994126043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80525290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16368982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905943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007385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5017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11.10.2026</a:t>
            </a:fld>
            <a:endParaRPr lang="ru-RU"/>
          </a:p>
        </p:txBody>
      </p:sp>
      <p:sp>
        <p:nvSpPr>
          <p:cNvPr id="107406021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678687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21</a:t>
            </a:fld>
            <a:endParaRPr lang="ru-RU"/>
          </a:p>
        </p:txBody>
      </p:sp>
      <p:sp>
        <p:nvSpPr>
          <p:cNvPr id="484263779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10801117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0627534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12211129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81130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5303242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7467792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9273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11.10.2026</a:t>
            </a:fld>
            <a:endParaRPr lang="ru-RU"/>
          </a:p>
        </p:txBody>
      </p:sp>
      <p:sp>
        <p:nvSpPr>
          <p:cNvPr id="2045041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452754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23</a:t>
            </a:fld>
            <a:endParaRPr lang="ru-RU"/>
          </a:p>
        </p:txBody>
      </p:sp>
      <p:sp>
        <p:nvSpPr>
          <p:cNvPr id="1774374839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3197957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55966169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392053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6964519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80296430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3932999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29551297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4040099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69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11.10.2026</a:t>
            </a:fld>
            <a:endParaRPr lang="ru-RU"/>
          </a:p>
        </p:txBody>
      </p:sp>
      <p:sp>
        <p:nvSpPr>
          <p:cNvPr id="109743438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818763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22</a:t>
            </a:fld>
            <a:endParaRPr lang="ru-RU"/>
          </a:p>
        </p:txBody>
      </p:sp>
      <p:sp>
        <p:nvSpPr>
          <p:cNvPr id="839760838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226161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65967879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85568492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62543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43398601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176848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27089664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71857769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46140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11.10.2026</a:t>
            </a:fld>
            <a:endParaRPr lang="ru-RU"/>
          </a:p>
        </p:txBody>
      </p:sp>
      <p:sp>
        <p:nvSpPr>
          <p:cNvPr id="179804981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9837584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25</a:t>
            </a:fld>
            <a:endParaRPr lang="ru-RU"/>
          </a:p>
        </p:txBody>
      </p:sp>
      <p:sp>
        <p:nvSpPr>
          <p:cNvPr id="1567254079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8397750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58593825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07941088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45909570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3603932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41167447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95307295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10048435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27151334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59737498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07396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11.10.2026</a:t>
            </a:fld>
            <a:endParaRPr lang="ru-RU"/>
          </a:p>
        </p:txBody>
      </p:sp>
      <p:sp>
        <p:nvSpPr>
          <p:cNvPr id="117778103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1278611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24</a:t>
            </a:fld>
            <a:endParaRPr lang="ru-RU"/>
          </a:p>
        </p:txBody>
      </p:sp>
      <p:sp>
        <p:nvSpPr>
          <p:cNvPr id="1849771633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31606184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24276998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054859486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1627250773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623375049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844517673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6323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28240287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11.10.2026</a:t>
            </a:fld>
            <a:endParaRPr lang="ru-RU"/>
          </a:p>
        </p:txBody>
      </p:sp>
      <p:sp>
        <p:nvSpPr>
          <p:cNvPr id="112511324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9787508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26</a:t>
            </a:fld>
            <a:endParaRPr lang="ru-RU"/>
          </a:p>
        </p:txBody>
      </p:sp>
      <p:sp>
        <p:nvSpPr>
          <p:cNvPr id="653654964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87684537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23114528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27957025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1606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11.10.2026</a:t>
            </a:fld>
            <a:endParaRPr lang="ru-RU"/>
          </a:p>
        </p:txBody>
      </p:sp>
      <p:sp>
        <p:nvSpPr>
          <p:cNvPr id="176098446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0957497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27</a:t>
            </a:fld>
            <a:endParaRPr lang="ru-RU"/>
          </a:p>
        </p:txBody>
      </p:sp>
      <p:sp>
        <p:nvSpPr>
          <p:cNvPr id="1527835278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803846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87121580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96886282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748940677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692614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8457969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41312130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94005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3934169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687415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4469595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7687234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74084439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1974250118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0188182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9393830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5616986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255910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76520368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11.10.2026</a:t>
            </a:fld>
            <a:endParaRPr lang="ru-RU"/>
          </a:p>
        </p:txBody>
      </p:sp>
      <p:sp>
        <p:nvSpPr>
          <p:cNvPr id="1032611874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11427157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28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5776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8878169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99331017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62537193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20870649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11.10.2026</a:t>
            </a:fld>
            <a:endParaRPr lang="ru-RU"/>
          </a:p>
        </p:txBody>
      </p:sp>
      <p:sp>
        <p:nvSpPr>
          <p:cNvPr id="17796546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482752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29</a:t>
            </a:fld>
            <a:endParaRPr lang="ru-RU"/>
          </a:p>
        </p:txBody>
      </p:sp>
      <p:sp>
        <p:nvSpPr>
          <p:cNvPr id="280388261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2789999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43297425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36410090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0412959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82201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9220275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3001242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11.10.2026</a:t>
            </a:fld>
            <a:endParaRPr lang="ru-RU"/>
          </a:p>
        </p:txBody>
      </p:sp>
      <p:sp>
        <p:nvSpPr>
          <p:cNvPr id="81630100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6058428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23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0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0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80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80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8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80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hyperlink" Target="https://flaticon.com.ru/" TargetMode="External"/><Relationship Id="rId5" Type="http://schemas.openxmlformats.org/officeDocument/2006/relationships/hyperlink" Target="https://nice-slides.ru/powerpoint/lessons/quickstart/&#1075;&#1086;&#1088;&#1103;&#1095;&#1080;&#1077;-&#1082;&#1083;&#1072;&#1074;&#1080;&#1096;&#1080;-powerpoint/" TargetMode="Externa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26039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 wrap="square"/>
          <a:lstStyle/>
          <a:p>
            <a:pPr marL="268288" indent="0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ПЛАТФОРМА «PHAETON»</a:t>
            </a:r>
            <a:endParaRPr lang="ru-RU" sz="4800"/>
          </a:p>
        </p:txBody>
      </p:sp>
      <p:sp>
        <p:nvSpPr>
          <p:cNvPr id="632294189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 wrap="square">
            <a:normAutofit lnSpcReduction="10000"/>
          </a:bodyPr>
          <a:lstStyle/>
          <a:p>
            <a:pPr marL="271463" indent="-3175">
              <a:defRPr sz="1400" b="0">
                <a:solidFill>
                  <a:srgbClr val="FFFFFF"/>
                </a:solidFill>
                <a:latin typeface="Montserrat"/>
              </a:defRPr>
            </a:pPr>
            <a:r>
              <a:t>Цифровая платформа-агрегатор ИТ-вакансий с верифицированным</a:t>
            </a:r>
            <a:endParaRPr/>
          </a:p>
          <a:p>
            <a:pPr>
              <a:defRPr sz="1400" b="0">
                <a:solidFill>
                  <a:srgbClr val="FFFFFF"/>
                </a:solidFill>
                <a:latin typeface="Montserrat"/>
              </a:defRPr>
            </a:pPr>
            <a:r>
              <a:t>профилем достижений участника Федерации спортивного программирования</a:t>
            </a:r>
          </a:p>
          <a:p>
            <a:pPr>
              <a:defRPr sz="14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400" b="0">
                <a:solidFill>
                  <a:srgbClr val="FFFFFF"/>
                </a:solidFill>
                <a:latin typeface="Montserrat"/>
              </a:defRPr>
            </a:pPr>
            <a:r>
              <a:t>Команда: Phaeton (Фаэтон) • Хакатон ЛЦТ 2026 • 11 октября 2026 г.</a:t>
            </a:r>
          </a:p>
        </p:txBody>
      </p:sp>
      <p:sp>
        <p:nvSpPr>
          <p:cNvPr id="125798626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405530357" name="Рисунок 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46075" y="631174"/>
            <a:ext cx="4905194" cy="620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564043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1869532374" name="Рисунок 1" descr="photo.jpe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4849" b="4849"/>
          <a:stretch>
            <a:fillRect/>
          </a:stretch>
        </p:blipFill>
        <p:spPr/>
      </p:pic>
      <p:sp>
        <p:nvSpPr>
          <p:cNvPr id="1498044911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Автономная веб-платформа прямого подбора ИТ-специалистов с моделью</a:t>
            </a:r>
            <a:endParaRPr/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обратного рекрутинга (Reverse Recruiting по вектору LHH) и объективным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компьютерным адаптивным тестированием квалификации (CAT 2PL IRT).</a:t>
            </a:r>
          </a:p>
        </p:txBody>
      </p:sp>
      <p:sp>
        <p:nvSpPr>
          <p:cNvPr id="1081970527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Инициатива у работодателя с обязательной зарплатной вилкой в ₽.</a:t>
            </a:r>
            <a:endParaRPr/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CAT 2PL IRT адаптивное тестирование со сходимостью за 8–12 вопросов.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Защита от утечек Anti-Leak: параметризация задач на лету.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Олимпийский бонус +15% в подборе за достижения в турнирах ФСП.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Explainable AI: декомпозиция всех факторов ранжирования кандидатов.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Строгая защита персональных данных: контакты скрыты по 152-ФЗ.</a:t>
            </a:r>
          </a:p>
        </p:txBody>
      </p:sp>
      <p:sp>
        <p:nvSpPr>
          <p:cNvPr id="9786743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Капитан: Алексей Смирнов (Product Architect)</a:t>
            </a:r>
            <a:endParaRPr/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Команда: 5 участников (Backend, Frontend, ML/IRT, QA)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Город и регион: Москва / РФ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О команде: Междисциплинарный коллектив разработчиков,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олимпиадников и исследователей ML, объединившийся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для создания честного карьерного лифта в ИТ.</a:t>
            </a:r>
          </a:p>
        </p:txBody>
      </p:sp>
      <p:sp>
        <p:nvSpPr>
          <p:cNvPr id="1000156459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191027906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 wrap="square"/>
          <a:lstStyle/>
          <a:p>
            <a:pPr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О РЕШЕНИИ «PHAETON»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87181790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055479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0910156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18230317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Инициатива у работодателя с обязательной зарплатной вилкой в ₽.</a:t>
            </a:r>
            <a:endParaRPr/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CAT 2PL IRT адаптивное тестирование со сходимостью за 8–12 вопросов.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Защита от утечек Anti-Leak: параметризация задач на лету.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Олимпийский бонус +15% в подборе за достижения в турнирах ФСП.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Explainable AI: декомпозиция всех факторов ранжирования кандидатов.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Строгая защита персональных данных: контакты скрыты по 152-ФЗ.</a:t>
            </a:r>
          </a:p>
        </p:txBody>
      </p:sp>
      <p:sp>
        <p:nvSpPr>
          <p:cNvPr id="1186554561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Автономная веб-платформа прямого подбора ИТ-специалистов с моделью</a:t>
            </a:r>
            <a:endParaRPr/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обратного рекрутинга (Reverse Recruiting по вектору LHH) и объективным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компьютерным адаптивным тестированием квалификации (CAT 2PL IRT).</a:t>
            </a:r>
          </a:p>
        </p:txBody>
      </p:sp>
      <p:sp>
        <p:nvSpPr>
          <p:cNvPr id="939292604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704168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47515768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Backend &amp; System Lead</a:t>
            </a:r>
            <a:endParaRPr/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НИУ ВШЭ // @phaeton_backend</a:t>
            </a:r>
            <a:br/>
            <a:r>
              <a:t>FastAPI, PostgreSQL, SQLite,</a:t>
            </a:r>
            <a:br/>
            <a:r>
              <a:t>152-ФЗ, Docker Compose</a:t>
            </a:r>
          </a:p>
        </p:txBody>
      </p:sp>
      <p:sp>
        <p:nvSpPr>
          <p:cNvPr id="1510122395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Даниил Кузнецов</a:t>
            </a:r>
            <a:endParaRPr/>
          </a:p>
        </p:txBody>
      </p:sp>
      <p:sp>
        <p:nvSpPr>
          <p:cNvPr id="282993073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56261086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ML &amp; Psychometrics Lead</a:t>
            </a:r>
            <a:endParaRPr/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МФТИ // @phaeton_ml</a:t>
            </a:r>
            <a:br/>
            <a:r>
              <a:t>CAT 2PL IRT, Bayes EAP,</a:t>
            </a:r>
            <a:br/>
            <a:r>
              <a:t>генераторы Anti-Leak, валидация</a:t>
            </a:r>
          </a:p>
        </p:txBody>
      </p:sp>
      <p:sp>
        <p:nvSpPr>
          <p:cNvPr id="2101799206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Михаил Соколов</a:t>
            </a:r>
            <a:endParaRPr/>
          </a:p>
        </p:txBody>
      </p:sp>
      <p:sp>
        <p:nvSpPr>
          <p:cNvPr id="679575758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51448925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ML &amp; Psychometrics Lead</a:t>
            </a:r>
            <a:endParaRPr/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МФТИ // @phaeton_ml</a:t>
            </a:r>
            <a:br/>
            <a:r>
              <a:t>CAT 2PL IRT, Bayes EAP,</a:t>
            </a:r>
            <a:br/>
            <a:r>
              <a:t>генераторы Anti-Leak, валидация</a:t>
            </a:r>
          </a:p>
        </p:txBody>
      </p:sp>
      <p:sp>
        <p:nvSpPr>
          <p:cNvPr id="1145045793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Михаил Соколов</a:t>
            </a:r>
            <a:endParaRPr/>
          </a:p>
        </p:txBody>
      </p:sp>
      <p:sp>
        <p:nvSpPr>
          <p:cNvPr id="101571228" name="Скругленный прямоугольник 64"/>
          <p:cNvSpPr/>
          <p:nvPr/>
        </p:nvSpPr>
        <p:spPr bwMode="auto"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21299600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Frontend &amp; UX Lead</a:t>
            </a:r>
            <a:endParaRPr/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МГУ им. Ломоносова // @phaeton_front</a:t>
            </a:r>
            <a:br/>
            <a:r>
              <a:t>React SPA, Bento Grid,</a:t>
            </a:r>
            <a:br/>
            <a:r>
              <a:t>CAT Runner, Tailwind CSS</a:t>
            </a:r>
          </a:p>
        </p:txBody>
      </p:sp>
      <p:sp>
        <p:nvSpPr>
          <p:cNvPr id="39862883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Елена Васильева</a:t>
            </a:r>
            <a:endParaRPr/>
          </a:p>
        </p:txBody>
      </p:sp>
      <p:sp>
        <p:nvSpPr>
          <p:cNvPr id="2061777178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80438952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51956876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418166712" name="Рисунок 1" descr="face1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2189" b="2189"/>
          <a:stretch>
            <a:fillRect/>
          </a:stretch>
        </p:blipFill>
        <p:spPr/>
      </p:pic>
      <p:pic>
        <p:nvPicPr>
          <p:cNvPr id="953819293" name="Рисунок 2" descr="face1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2512" b="2512"/>
          <a:stretch>
            <a:fillRect/>
          </a:stretch>
        </p:blipFill>
        <p:spPr/>
      </p:pic>
      <p:pic>
        <p:nvPicPr>
          <p:cNvPr id="348060123" name="Рисунок 3" descr="face1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1979" b="1979"/>
          <a:stretch>
            <a:fillRect/>
          </a:stretch>
        </p:blipFill>
        <p:spPr/>
      </p:pic>
      <p:pic>
        <p:nvPicPr>
          <p:cNvPr id="1155852699" name="Рисунок 4" descr="face1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1979" b="1979"/>
          <a:stretch>
            <a:fillRect/>
          </a:stretch>
        </p:blipFill>
        <p:spPr/>
      </p:pic>
      <p:pic>
        <p:nvPicPr>
          <p:cNvPr id="1871644277" name="Рисунок 5" descr="face1.pn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1979" b="1979"/>
          <a:stretch>
            <a:fillRect/>
          </a:stretch>
        </p:blipFill>
        <p:spPr/>
      </p:pic>
      <p:sp>
        <p:nvSpPr>
          <p:cNvPr id="985047748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 wrap="square"/>
          <a:lstStyle/>
          <a:p>
            <a:pPr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КОМАНДА ПРОЕКТА «PHAETON»</a:t>
            </a:r>
            <a:endParaRPr lang="ru-RU">
              <a:latin typeface="Montserrat"/>
            </a:endParaRPr>
          </a:p>
        </p:txBody>
      </p:sp>
      <p:sp>
        <p:nvSpPr>
          <p:cNvPr id="51824740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 wrap="square"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Team Lead / Product Architect</a:t>
            </a:r>
            <a:endParaRPr/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МГТУ им. Баумана // @phaeton_lead</a:t>
            </a:r>
            <a:br/>
            <a:r>
              <a:t>Продуктовая концепция LHH,</a:t>
            </a:r>
            <a:br/>
            <a:r>
              <a:t>архитектура, координация</a:t>
            </a:r>
          </a:p>
        </p:txBody>
      </p:sp>
      <p:sp>
        <p:nvSpPr>
          <p:cNvPr id="231744131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300" b="1">
                <a:solidFill>
                  <a:srgbClr val="FFFFFF"/>
                </a:solidFill>
                <a:latin typeface="Montserrat"/>
              </a:defRPr>
            </a:pPr>
            <a:r>
              <a:t>Алексей Смирнов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65907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Команда объединила участников Чемпионатов России и соревнований по</a:t>
            </a:r>
            <a:endParaRPr lang="ru-RU" b="1">
              <a:solidFill>
                <a:schemeClr val="accent2"/>
              </a:solidFill>
            </a:endParaR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алгоритмическому программированию ФСП. В прошлых хакатонах ЛЦТ мы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проектировали высоконагруженные сервисы, а сейчас сплотились для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решения системной проблемы ИТ-рынка.</a:t>
            </a:r>
          </a:p>
        </p:txBody>
      </p:sp>
      <p:sp>
        <p:nvSpPr>
          <p:cNvPr id="542923107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Вызов: Банк заданий нельзя делать статичным — ответы мгновенно утекают в сеть.</a:t>
            </a:r>
            <a:endParaRPr lang="ru-RU">
              <a:solidFill>
                <a:schemeClr val="accent5"/>
              </a:solidFill>
            </a:endParaR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Решение: Разработали параметризованный генератор задач на лету, где условия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генерируются динамически, а калибровка строго подчинена модели 2PL IRT Бирнбаума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со сходимостью по апостериорному Bayes EAP.</a:t>
            </a:r>
          </a:p>
        </p:txBody>
      </p:sp>
      <p:sp>
        <p:nvSpPr>
          <p:cNvPr id="2002268881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 wrap="square"/>
          <a:lstStyle/>
          <a:p>
            <a:pPr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ИСТОРИЯ КОМАНДЫ И ВЫЗОВЫ</a:t>
            </a:r>
            <a:endParaRPr lang="ru-RU">
              <a:latin typeface="Montserrat"/>
            </a:endParaRPr>
          </a:p>
        </p:txBody>
      </p:sp>
      <p:sp>
        <p:nvSpPr>
          <p:cNvPr id="533687741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buNone/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Команда объединила участников Чемпионатов России и соревнований по</a:t>
            </a:r>
            <a:endParaRPr/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алгоритмическому программированию ФСП. В прошлых хакатонах ЛЦТ мы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проектировали высоконагруженные сервисы, а сейчас сплотились для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решения системной проблемы ИТ-рынка.</a:t>
            </a:r>
          </a:p>
        </p:txBody>
      </p:sp>
      <p:sp>
        <p:nvSpPr>
          <p:cNvPr id="1620831073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Команда объединила участников Чемпионатов России и соревнований по</a:t>
            </a:r>
            <a:endParaRPr/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алгоритмическому программированию ФСП. В прошлых хакатонах ЛЦТ мы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проектировали высоконагруженные сервисы, а сейчас сплотились для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решения системной проблемы ИТ-рынка.</a:t>
            </a:r>
          </a:p>
        </p:txBody>
      </p:sp>
      <p:sp>
        <p:nvSpPr>
          <p:cNvPr id="691758557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Вызов: Банк заданий нельзя делать статичным — ответы мгновенно утекают в сеть.</a:t>
            </a:r>
            <a:endParaRPr lang="en-US">
              <a:solidFill>
                <a:schemeClr val="tx1"/>
              </a:solidFill>
            </a:endParaR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Решение: Разработали параметризованный генератор задач на лету, где условия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генерируются динамически, а калибровка строго подчинена модели 2PL IRT Бирнбаума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со сходимостью по апостериорному Bayes EAP.</a:t>
            </a:r>
          </a:p>
        </p:txBody>
      </p:sp>
      <p:sp>
        <p:nvSpPr>
          <p:cNvPr id="1525612381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Вызов: Банк заданий нельзя делать статичным — ответы мгновенно утекают в сеть.</a:t>
            </a:r>
            <a:endParaRPr/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Решение: Разработали параметризованный генератор задач на лету, где условия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генерируются динамически, а калибровка строго подчинена модели 2PL IRT Бирнбаума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со сходимостью по апостериорному Bayes EAP.</a:t>
            </a:r>
          </a:p>
        </p:txBody>
      </p:sp>
      <p:sp>
        <p:nvSpPr>
          <p:cNvPr id="374673187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Классические резюме не подтверждают реальных практических навыков,</a:t>
            </a:r>
            <a:endParaRPr/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а скрининг сводится к совпадению ключевых слов. Как участники олимпиад,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мы знаем ценность соревновательного опыта и создали продукт, который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конвертирует спортивные достижения в карьерный буст.</a:t>
            </a:r>
          </a:p>
        </p:txBody>
      </p:sp>
      <p:sp>
        <p:nvSpPr>
          <p:cNvPr id="24797704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Классические резюме не подтверждают реальных практических навыков,</a:t>
            </a:r>
            <a:endParaRPr/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а скрининг сводится к совпадению ключевых слов. Как участники олимпиад,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мы знаем ценность соревновательного опыта и создали продукт, который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конвертирует спортивные достижения в карьерный буст.</a:t>
            </a:r>
          </a:p>
        </p:txBody>
      </p:sp>
      <p:cxnSp>
        <p:nvCxnSpPr>
          <p:cNvPr id="1584973899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5587113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9307006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68000903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240398777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Классические резюме не подтверждают реальных практических навыков,</a:t>
            </a:r>
            <a:endParaRPr/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а скрининг сводится к совпадению ключевых слов. Как участники олимпиад,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мы знаем ценность соревновательного опыта и создали продукт, который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конвертирует спортивные достижения в карьерный буст.</a:t>
            </a:r>
          </a:p>
        </p:txBody>
      </p:sp>
      <p:sp>
        <p:nvSpPr>
          <p:cNvPr id="1165691543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Вызов: Банк заданий нельзя делать статичным — ответы мгновенно утекают в сеть.</a:t>
            </a:r>
            <a:endParaRPr/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Решение: Разработали параметризованный генератор задач на лету, где условия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генерируются динамически, а калибровка строго подчинена модели 2PL IRT Бирнбаума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со сходимостью по апостериорному Bayes EAP.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401152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82865160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71200763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1006014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043424320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Модульный монолит: FastAPI, Python 3.11, PostgreSQL / SQLite.</a:t>
            </a:r>
            <a:endParaRPr/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Адаптивное тестирование: 2PL IRT модель Бирнбаума, Bayes EAP.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Защита от утечек Anti-Leak: генерация параметров задач на лету.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Ранжирование обратного подбора: многофакторный скоринг с XAI.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Олимпийский бонус ФСП: +15% вес с защитой от дискриминации.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Безопасность 152-ФЗ: сокрытие контактов до согласия соискателя.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Упаковка в Docker Compose: развертывание за 1 команду (&lt;2 ГБ RAM).</a:t>
            </a:r>
          </a:p>
        </p:txBody>
      </p:sp>
      <p:sp>
        <p:nvSpPr>
          <p:cNvPr id="200780366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Обратная механика найма (LHH): работодатель выходит с оффером первым.</a:t>
            </a:r>
            <a:endParaRPr/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Обязательная зарплатная вилка («от–до» в ₽): исключает занижение рынка.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Ценность для ФСП: мощный стимул участия в турнирах для разработчиков.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Монетизация B2B: платная подписка на верифицированный пул кадров.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Геймификация удержания: регулярные Daily Challenges от работодателей.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Прозрачность Explainable AI: доверие и соискателя, и HR-специалиста.</a:t>
            </a:r>
          </a:p>
        </p:txBody>
      </p:sp>
      <p:sp>
        <p:nvSpPr>
          <p:cNvPr id="87047925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 wrap="square"/>
          <a:lstStyle/>
          <a:p>
            <a:pPr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КОРОТКО О РЕШЕНИИ PHAETON</a:t>
            </a:r>
            <a:endParaRPr/>
          </a:p>
        </p:txBody>
      </p:sp>
      <p:sp>
        <p:nvSpPr>
          <p:cNvPr id="620513342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1090034291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916497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37375331" name="Объект 28"/>
          <p:cNvSpPr>
            <a:spLocks noGrp="1"/>
          </p:cNvSpPr>
          <p:nvPr>
            <p:ph idx="1"/>
          </p:nvPr>
        </p:nvSpPr>
        <p:spPr bwMode="auto">
          <a:xfrm>
            <a:off x="521133" y="1263123"/>
            <a:ext cx="5574868" cy="4937652"/>
          </a:xfrm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1. До 85% нерелевантных откликов:</a:t>
            </a:r>
            <a:endParaRPr lang="ru-RU">
              <a:solidFill>
                <a:schemeClr val="tx1"/>
              </a:solidFill>
            </a:endParaR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Существующие платформы (HeadHunter, SuperJob) универсальны для всех отраслей.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Работодатели тонут в сотнях нерелевантных откликов, а технические эксперты тратят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сотни часов на первичное сито кандидатов.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2. Самоописанные резюме не подтверждают квалификацию: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Перечисление ключевых слов и фреймворков не доказывает практических навыков.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Отбор сводится к текстовому поиску, приводя к ошибкам найма.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3. Соискатели откликаются вслепую: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Кандидаты не получают обратной связи, а зарплатные условия скрываются до финального оффера.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4. Упущенный потенциал соревновательного движения ФСП: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Победы в олимпиадах по спортивному программированию не верифицируются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и не дают формального карьерного преимущества.</a:t>
            </a:r>
          </a:p>
        </p:txBody>
      </p:sp>
      <p:sp>
        <p:nvSpPr>
          <p:cNvPr id="187641162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12</a:t>
            </a:fld>
            <a:endParaRPr lang="ru-RU"/>
          </a:p>
        </p:txBody>
      </p:sp>
      <p:sp>
        <p:nvSpPr>
          <p:cNvPr id="837846943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 wrap="square"/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ПРОБЛЕМА: КРИЗИС ТРАДИЦИОННОГО ИТ-РЕКРУТИНГА</a:t>
            </a:r>
            <a:endParaRPr lang="ru-RU"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163219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362499" name="Объект 2"/>
          <p:cNvSpPr>
            <a:spLocks noGrp="1"/>
          </p:cNvSpPr>
          <p:nvPr>
            <p:ph idx="1"/>
          </p:nvPr>
        </p:nvSpPr>
        <p:spPr bwMode="auto">
          <a:xfrm>
            <a:off x="623888" y="1556279"/>
            <a:ext cx="10789619" cy="3745441"/>
          </a:xfrm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1. Верифицированный профиль соискателя:</a:t>
            </a:r>
            <a:endParaRPr lang="ru-RU">
              <a:solidFill>
                <a:schemeClr val="tx1"/>
              </a:solidFill>
            </a:endParaR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Кандидат регистрируется, подтверждает специализацию и проходит адаптивный CAT-тест.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Алгоритм присваивает категорию (грейд, способность theta, перцентиль в стране).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Профиль обогащается достижениями из реестра Федерации спортивного программирования.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2. Обратный поиск работодателя (Reverse Recruiting):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Компания формулирует потребность и ОБЯЗАНА указать зарплатную вилку в рублях («от–до»).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Алгоритм выдает ранжированный пул верифицированных кандидатов с объяснимостью (XAI).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3. Персональный оффер и 152-ФЗ защита: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Работодатель направляет оффер конкретному человеку. Контакты кандидата физически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скрыты до момента, пока соискатель не нажмет кнопку «Принять предложение».</a:t>
            </a:r>
          </a:p>
        </p:txBody>
      </p:sp>
      <p:sp>
        <p:nvSpPr>
          <p:cNvPr id="37594349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568118172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 wrap="square"/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КОНЦЕПЦИЯ ПЛАТФОРМЫ PHAETON: СКВОЗНОЙ СЦЕНАРИЙ</a:t>
            </a:r>
            <a:endParaRPr lang="ru-RU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044118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6578204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14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358015384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ОБРАТНЫЙ НАЙМ: ИНИЦИАТИВА У РАБОТОДАТЕЛЯ (35%)</a:t>
            </a:r>
            <a:endParaRPr lang="ru-RU" sz="2000">
              <a:solidFill>
                <a:schemeClr val="accent5"/>
              </a:solidFill>
            </a:endParaRPr>
          </a:p>
        </p:txBody>
      </p:sp>
      <p:pic>
        <p:nvPicPr>
          <p:cNvPr id="59285316" name="Рисунок 3" descr="08_employer_dashboard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18750" r="18750"/>
          <a:stretch>
            <a:fillRect/>
          </a:stretch>
        </p:blipFill>
        <p:spPr/>
      </p:pic>
      <p:sp>
        <p:nvSpPr>
          <p:cNvPr id="1846722566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143695"/>
            <a:ext cx="4807840" cy="4717356"/>
          </a:xfrm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Вектор LHH (Lee Hecht Harrison):</a:t>
            </a:r>
            <a:endParaRPr lang="ru-RU">
              <a:solidFill>
                <a:schemeClr val="tx1"/>
              </a:solidFill>
            </a:endParaR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Инициатива исходит от компании. Работодатель ищет специалистов в уже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категоризированном и верифицированном банке талантов.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Обязательная зарплатная вилка: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Запрещены вакансии без вилки. Соискатель видит финансовые условия ДО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начала общения, что исключает потерю времени.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Гарантия анонимности 152-ФЗ: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В каталоге кандидаты отображаются под псевдонимами (Backend-Dev-#101).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Контакты открываются только при взаимном интересе.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320274" name="Скругленный прямоугольник 9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71935138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24402638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23081960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5811952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99244817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911488923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 wrap="square"/>
          <a:lstStyle/>
          <a:p>
            <a:pPr>
              <a:defRPr sz="1200" b="1">
                <a:solidFill>
                  <a:srgbClr val="FF0053"/>
                </a:solidFill>
                <a:latin typeface="Montserrat"/>
              </a:defRPr>
            </a:pPr>
            <a:r>
              <a:t>СТЕК И ГРЕЙД (55%)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185636121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Совпадение стека (30%) по Jaccard-индексу и близость подтвержденного грейда CAT (25%) к целевому уровню компании.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79238783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 wrap="square"/>
          <a:lstStyle/>
          <a:p>
            <a:pPr>
              <a:defRPr sz="1200" b="1">
                <a:solidFill>
                  <a:srgbClr val="FF0053"/>
                </a:solidFill>
                <a:latin typeface="Montserrat"/>
              </a:defRPr>
            </a:pPr>
            <a:r>
              <a:t>ЗАРПЛАТА (20%)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60552501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Функция попадания зарплатных ожиданий кандидата в бюджет работодателя: 1.0 при полном пересечении интервалов.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44471469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 wrap="square"/>
          <a:lstStyle/>
          <a:p>
            <a:pPr>
              <a:defRPr sz="1200" b="1">
                <a:solidFill>
                  <a:srgbClr val="FF0053"/>
                </a:solidFill>
                <a:latin typeface="Montserrat"/>
              </a:defRPr>
            </a:pPr>
            <a:r>
              <a:t>БОНУС ФСП (15%)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18686263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Олимпийский бонус +15% призерам соревнований ФСП. Для кандидатов без ФСП веса динамически перенормируются.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2809060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 wrap="square"/>
          <a:lstStyle/>
          <a:p>
            <a:pPr>
              <a:defRPr sz="1200" b="1">
                <a:solidFill>
                  <a:srgbClr val="FF0053"/>
                </a:solidFill>
                <a:latin typeface="Montserrat"/>
              </a:defRPr>
            </a:pPr>
            <a:r>
              <a:t>АКТИВНОСТЬ (10%)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811371956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Свежесть прохождения тестирования и решение регулярных Daily Challenges от работодателей.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1501980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МНОГОФАКТОРНАЯ ФОРМУЛА РАНЖИРОВАНИЯ</a:t>
            </a:r>
            <a:endParaRPr lang="ru-RU"/>
          </a:p>
        </p:txBody>
      </p:sp>
      <p:sp>
        <p:nvSpPr>
          <p:cNvPr id="55828847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87665986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80543129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18060019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668834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2985390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13507305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6058045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61176325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 wrap="square"/>
          <a:lstStyle/>
          <a:p>
            <a:pPr>
              <a:defRPr sz="1300" b="1">
                <a:solidFill>
                  <a:srgbClr val="FF0053"/>
                </a:solidFill>
                <a:latin typeface="Montserrat"/>
              </a:defRPr>
            </a:pPr>
            <a:r>
              <a:t>ПРОЗРАЧНОСТЬ ДЛЯ HR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583221559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Декомпозиция каждого фактора в процентах:</a:t>
            </a:r>
            <a:endParaRPr lang="ru-RU">
              <a:solidFill>
                <a:schemeClr val="tx1"/>
              </a:solidFill>
            </a:endParaR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Стек: 95% (совпали Python, FastAPI, Postgres)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Грейд: 92% (Middle подтвержден CAT, θ=1.15)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ФСП: 85% (Серебряный призер Чемпионата РФ)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Вилка: 100% (укладывается в бюджет компании)</a:t>
            </a:r>
          </a:p>
        </p:txBody>
      </p:sp>
      <p:sp>
        <p:nvSpPr>
          <p:cNvPr id="1689803542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 wrap="square"/>
          <a:lstStyle/>
          <a:p>
            <a:pPr>
              <a:defRPr sz="1300" b="1">
                <a:solidFill>
                  <a:srgbClr val="FF0053"/>
                </a:solidFill>
                <a:latin typeface="Montserrat"/>
              </a:defRPr>
            </a:pPr>
            <a:r>
              <a:t>ОБЪЕКТИВНОСТЬ И ДОВЕРИЕ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480063031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Отказ от 'черного ящика':</a:t>
            </a:r>
            <a:endParaRPr lang="ru-RU">
              <a:solidFill>
                <a:schemeClr val="tx1"/>
              </a:solidFill>
            </a:endParaR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Четкая математическая модель вместо скрытых нейросетевых весов.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Защита от алгоритмической предвзятости.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Одинаковые и проверяемые правила для всех соискателей.</a:t>
            </a:r>
          </a:p>
        </p:txBody>
      </p:sp>
      <p:sp>
        <p:nvSpPr>
          <p:cNvPr id="997087407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 wrap="square"/>
          <a:lstStyle/>
          <a:p>
            <a:pPr>
              <a:defRPr sz="1300" b="1">
                <a:solidFill>
                  <a:srgbClr val="FF0053"/>
                </a:solidFill>
                <a:latin typeface="Montserrat"/>
              </a:defRPr>
            </a:pPr>
            <a:r>
              <a:t>ПОЛЬЗА СОИСКАТЕЛЮ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2120812458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Понятный карьерный лифт:</a:t>
            </a:r>
            <a:endParaRPr lang="ru-RU">
              <a:solidFill>
                <a:schemeClr val="tx1"/>
              </a:solidFill>
            </a:endParaR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Кандидат видит, почему его профиль выбирают компании.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Четкие ориентиры: участие в турнирах ФСП дает прямое ускорение в подборе.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Регулярные задания поддерживают рейтинг.</a:t>
            </a:r>
          </a:p>
        </p:txBody>
      </p:sp>
      <p:sp>
        <p:nvSpPr>
          <p:cNvPr id="162062573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 wrap="square"/>
          <a:lstStyle/>
          <a:p>
            <a:pPr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EXPLAINABLE AI: ПОЧЕМУ КАНДИДАТ В ТОПЕ?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153721088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>
              <a:defRPr/>
            </a:pP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135633401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>
              <a:defRPr/>
            </a:pP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744653168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>
              <a:defRPr/>
            </a:pPr>
            <a:endParaRPr lang="ru-RU" sz="4400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010792" name="Скругленный прямоугольник 22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1028244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601260618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 wrap="square"/>
          <a:lstStyle/>
          <a:p>
            <a:pPr>
              <a:defRPr sz="1200" b="1">
                <a:solidFill>
                  <a:srgbClr val="FF0053"/>
                </a:solidFill>
                <a:latin typeface="Montserrat"/>
              </a:defRPr>
            </a:pPr>
            <a:r>
              <a:t>2PL IRT МОДЕЛЬ БИРНБАУМА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26693372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3866856" cy="672075"/>
          </a:xfrm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Вероятность верного ответа P(θ) = 1 / (1 + exp(-1.7 a (θ - b))). Оценивает скрытую способность θ независимо от конкретного варианта теста.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13184713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 wrap="square"/>
          <a:lstStyle/>
          <a:p>
            <a:pPr>
              <a:defRPr sz="1200" b="1">
                <a:solidFill>
                  <a:srgbClr val="FF0053"/>
                </a:solidFill>
                <a:latin typeface="Montserrat"/>
              </a:defRPr>
            </a:pPr>
            <a:r>
              <a:t>ИНФОРМАЦИЯ ФИШЕРА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66062947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3866856" cy="672075"/>
          </a:xfrm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Следующий вопрос выбирается методом максимизации I(θ) = 1.7² a² P(1-P) с top-3 рандомизацией для защиты от повторений.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77813435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 wrap="square"/>
          <a:lstStyle/>
          <a:p>
            <a:pPr>
              <a:defRPr sz="1200" b="1">
                <a:solidFill>
                  <a:srgbClr val="FF0053"/>
                </a:solidFill>
                <a:latin typeface="Montserrat"/>
              </a:defRPr>
            </a:pPr>
            <a:r>
              <a:t>BAYES EAP ОЦЕНКА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357022539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3866856" cy="672075"/>
          </a:xfrm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Байесовское апостериорное математическое ожидание обеспечивает сходимость стандартной ошибки SE(θ) ≤ 0.35 всего за 8–12 вопросов.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2039070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 wrap="square"/>
          <a:lstStyle/>
          <a:p>
            <a:pPr>
              <a:defRPr sz="1200" b="1">
                <a:solidFill>
                  <a:srgbClr val="FF0053"/>
                </a:solidFill>
                <a:latin typeface="Montserrat"/>
              </a:defRPr>
            </a:pPr>
            <a:r>
              <a:t>НЕПРИНУДИТЕЛЬНОЕ ПОНИЖЕНИЕ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638285931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3866856" cy="672075"/>
          </a:xfrm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Строго по ТЗ: грейд не понижается принудительно без согласия соискателя. Кандидату доступна пересдача на комфортный уровень.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79401250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/>
          <a:lstStyle/>
          <a:p>
            <a:pPr>
              <a:defRPr/>
            </a:pPr>
            <a:endParaRPr lang="ru-RU">
              <a:solidFill>
                <a:srgbClr val="F92571"/>
              </a:solidFill>
            </a:endParaRPr>
          </a:p>
        </p:txBody>
      </p:sp>
      <p:sp>
        <p:nvSpPr>
          <p:cNvPr id="1413788946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3866856" cy="672075"/>
          </a:xfrm>
        </p:spPr>
        <p:txBody>
          <a:bodyPr/>
          <a:lstStyle/>
          <a:p>
            <a:pPr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404989256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/>
          <a:lstStyle/>
          <a:p>
            <a:pPr>
              <a:defRPr/>
            </a:pPr>
            <a:endParaRPr lang="ru-RU">
              <a:solidFill>
                <a:srgbClr val="F92571"/>
              </a:solidFill>
            </a:endParaRPr>
          </a:p>
        </p:txBody>
      </p:sp>
      <p:sp>
        <p:nvSpPr>
          <p:cNvPr id="311280163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3866856" cy="672075"/>
          </a:xfrm>
        </p:spPr>
        <p:txBody>
          <a:bodyPr/>
          <a:lstStyle/>
          <a:p>
            <a:pPr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102972119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АДАПТИВНОЕ ТЕСТИРОВАНИЕ CAT 2PL IRT (25%)</a:t>
            </a:r>
            <a:endParaRPr lang="ru-RU"/>
          </a:p>
        </p:txBody>
      </p:sp>
      <p:sp>
        <p:nvSpPr>
          <p:cNvPr id="1541829224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125558392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577123454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713491211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37562951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08349261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933383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47757785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19</a:t>
            </a:fld>
            <a:endParaRPr lang="ru-RU">
              <a:solidFill>
                <a:schemeClr val="accent5"/>
              </a:solidFill>
            </a:endParaRPr>
          </a:p>
        </p:txBody>
      </p:sp>
      <p:pic>
        <p:nvPicPr>
          <p:cNvPr id="422424620" name="Рисунок 2" descr="02_assessment_runner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312" b="312"/>
          <a:stretch>
            <a:fillRect/>
          </a:stretch>
        </p:blipFill>
        <p:spPr/>
      </p:pic>
      <p:pic>
        <p:nvPicPr>
          <p:cNvPr id="1657834924" name="Рисунок 3" descr="02_assessment_runner.png"/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t="20759" b="20759"/>
          <a:stretch>
            <a:fillRect/>
          </a:stretch>
        </p:blipFill>
        <p:spPr/>
      </p:pic>
      <p:pic>
        <p:nvPicPr>
          <p:cNvPr id="672523587" name="Рисунок 4" descr="02_assessment_runner.png"/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t="18898" b="18898"/>
          <a:stretch>
            <a:fillRect/>
          </a:stretch>
        </p:blipFill>
        <p:spPr/>
      </p:pic>
      <p:sp>
        <p:nvSpPr>
          <p:cNvPr id="999769290" name="Текст 5"/>
          <p:cNvSpPr>
            <a:spLocks noGrp="1"/>
          </p:cNvSpPr>
          <p:nvPr>
            <p:ph type="body" sz="quarter" idx="14"/>
          </p:nvPr>
        </p:nvSpPr>
        <p:spPr bwMode="auto"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wrap="square"/>
          <a:lstStyle/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Параметризованные шаблоны Anti-Leak:</a:t>
            </a:r>
            <a:endParaRPr lang="ru-RU">
              <a:solidFill>
                <a:schemeClr val="tx1"/>
              </a:solidFill>
            </a:endParaR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Задания не хранятся статично. Числовые константы, логические условия,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шаги циклов и структуры данных генерируются алгоритмически на лету.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Бесполезность шпаргалок и сливов: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Два кандидата не получат одинаковый код. Заучивание ответов бессмысленно —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правильный вариант пересчитывается детерминированным чекером.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Античит-система: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Фиксация потери фокуса окна (tab switch count) и выявление аномально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быстрых ответов (&lt;3 секунд на сложные олимпиадные алгоритмы).</a:t>
            </a:r>
          </a:p>
        </p:txBody>
      </p:sp>
      <p:sp>
        <p:nvSpPr>
          <p:cNvPr id="142258575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2775523" cy="376138"/>
          </a:xfrm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ЗАЩИТА ОТ УТЕЧЕК ЗАДАНИЙ И АНТИЧИТ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905593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90351030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6100233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91948030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23359547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68013473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79981115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462562936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КЛЮЧЕВЫЕ ЭЛЕМЕНТЫ ПРОФИЛЯ:</a:t>
            </a:r>
            <a:endParaRPr lang="ru-RU" sz="3600" b="1">
              <a:solidFill>
                <a:schemeClr val="tx1"/>
              </a:solidFill>
            </a:endParaR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Bento Grid интерфейс со спортивной символикой ФСП.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Психометрическая способность: точное значение θ, SE и перцентиль в стране.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Реестр достижений ФСП: верифицированные медали турниров (+15% бонус).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Автогенерация верифицированного PDF-резюме по стандарту Минцифры РФ.</a:t>
            </a:r>
          </a:p>
          <a:p>
            <a:pPr>
              <a:defRPr sz="1100" b="0">
                <a:solidFill>
                  <a:srgbClr val="FFFFFF"/>
                </a:solidFill>
                <a:latin typeface="Montserrat"/>
              </a:defRPr>
            </a:pPr>
            <a:r>
              <a:t>• Полная конфиденциальность: контакты скрыты до принятия оффера.</a:t>
            </a:r>
          </a:p>
        </p:txBody>
      </p:sp>
      <p:sp>
        <p:nvSpPr>
          <p:cNvPr id="1670839248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defRPr sz="1100">
                <a:solidFill>
                  <a:srgbClr val="FFFFFF"/>
                </a:solidFill>
                <a:latin typeface="Montserrat"/>
              </a:defRPr>
            </a:pPr>
            <a:r>
              <a:t>1. СОГЛАСИЕ 152-ФЗ: Фиксация явного согласия на обработку ПДн.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539893191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defRPr sz="1100">
                <a:solidFill>
                  <a:srgbClr val="FFFFFF"/>
                </a:solidFill>
                <a:latin typeface="Montserrat"/>
              </a:defRPr>
            </a:pPr>
            <a:r>
              <a:t>2. ПСЕВДОНИМИЗАЦИЯ: Отображение в каталоге в виде 'Backend-Dev-#101'.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90490618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defRPr sz="1100">
                <a:solidFill>
                  <a:srgbClr val="FFFFFF"/>
                </a:solidFill>
                <a:latin typeface="Montserrat"/>
              </a:defRPr>
            </a:pPr>
            <a:r>
              <a:t>3. КОНЕЧНЫЙ АВТОМАТ: Статусы приглашений DRAFT -&gt; SENT -&gt; ACCEPTED.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09113831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defRPr sz="1100">
                <a:solidFill>
                  <a:srgbClr val="FFFFFF"/>
                </a:solidFill>
                <a:latin typeface="Montserrat"/>
              </a:defRPr>
            </a:pPr>
            <a:r>
              <a:t>4. ИЗОЛЯЦИЯ КОНТАКТОВ: Телефон, email и Telegram недоступны до акцепта.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30836120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defRPr sz="1100">
                <a:solidFill>
                  <a:srgbClr val="FFFFFF"/>
                </a:solidFill>
                <a:latin typeface="Montserrat"/>
              </a:defRPr>
            </a:pPr>
            <a:r>
              <a:t>5. АУДИТ БЕЗОПАСНОСТИ: 100% прохождение тестов на отсутствие утечек ПДн.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86930787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52704835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ПРОФИЛЬ СОИСКАТЕЛЯ И ЗАЩИТА 152-ФЗ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207504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92801810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657706372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997165132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02534526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21</a:t>
            </a:fld>
            <a:endParaRPr lang="ru-RU"/>
          </a:p>
        </p:txBody>
      </p:sp>
      <p:sp>
        <p:nvSpPr>
          <p:cNvPr id="1168818124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defRPr sz="1300" b="1">
                <a:solidFill>
                  <a:srgbClr val="FF0053"/>
                </a:solidFill>
                <a:latin typeface="Montserrat"/>
              </a:defRPr>
            </a:pPr>
            <a:r>
              <a:t>ТОЧНОСТЬ И СХОДИМОСТЬ CAT IRT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172774111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649793"/>
            <a:ext cx="4790314" cy="779602"/>
          </a:xfrm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Корреляция с истинной способностью r = 0.91, MAE = 0.22. Ошибка SE ≤ 0.35 достигается в среднем за 9.4 вопроса.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68941026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defRPr sz="1300" b="1">
                <a:solidFill>
                  <a:srgbClr val="FF0053"/>
                </a:solidFill>
                <a:latin typeface="Montserrat"/>
              </a:defRPr>
            </a:pPr>
            <a:r>
              <a:t>УСТОЙЧИВОСТЬ К УТЕЧКАМ (ANTI-LEAK)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1448196749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15862"/>
            <a:ext cx="4790314" cy="869021"/>
          </a:xfrm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Симуляция утечки ответов: на статических тестах завышение +1.84σ, на параметризованных тестах Phaeton — всего +0.06σ.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32795983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defRPr sz="1300" b="1">
                <a:solidFill>
                  <a:srgbClr val="FF0053"/>
                </a:solidFill>
                <a:latin typeface="Montserrat"/>
              </a:defRPr>
            </a:pPr>
            <a:r>
              <a:t>КАЧЕСТВО РАНЖИРОВАНИЯ ПОДБОРА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2099491062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471798"/>
            <a:ext cx="4790314" cy="848014"/>
          </a:xfrm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Бенчмарк на 50 синтетических вакансиях и 1000 кандидатах: nDCG@10 = 0.94, Precision@5 = 0.88.</a:t>
            </a:r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28027431" name="Диаграмма 9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10162225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2763648" cy="376138"/>
          </a:xfrm>
        </p:spPr>
        <p:txBody>
          <a:bodyPr wrap="square"/>
          <a:lstStyle/>
          <a:p>
            <a:pPr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НАУЧНАЯ ВАЛИДАЦИЯ И ЭКСПЕРИМЕНТЫ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837155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6772804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06053016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2515961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58289614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21084540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01151472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718778597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DAILY CHALLENGES ФСП</a:t>
            </a:r>
            <a:endParaRPr lang="ru-RU">
              <a:solidFill>
                <a:schemeClr val="tx1"/>
              </a:solidFill>
            </a:endParaR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Короткие алгоритмические задачи от работодателей.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Поддержание актуальности профиля.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Свежий сигнал компаниям (+10% бонус активности).</a:t>
            </a:r>
          </a:p>
        </p:txBody>
      </p:sp>
      <p:sp>
        <p:nvSpPr>
          <p:cNvPr id="1457383359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КЛАССИЧЕСКИЙ ОТКЛИК</a:t>
            </a:r>
            <a:endParaRPr lang="ru-RU">
              <a:solidFill>
                <a:schemeClr val="tx1"/>
              </a:solidFill>
            </a:endParaR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Каталог открытых вакансий для соискателей.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Альтернативный сценарий прямого отклика.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Прозрачное отслеживание статуса рассмотрения.</a:t>
            </a:r>
          </a:p>
        </p:txBody>
      </p:sp>
      <p:sp>
        <p:nvSpPr>
          <p:cNvPr id="2084788960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DEMO PERSONA SWITCHER</a:t>
            </a:r>
            <a:endParaRPr lang="ru-RU">
              <a:solidFill>
                <a:schemeClr val="tx1"/>
              </a:solidFill>
            </a:endParaR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1-клик переключение ролей прямо в шапке.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Готовые профили: Иван (Middle), Елена (Junior),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  СберТех, Яндекс (Работодатели).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Максимальное удобство для оценки жюри.</a:t>
            </a:r>
          </a:p>
        </p:txBody>
      </p:sp>
      <p:cxnSp>
        <p:nvCxnSpPr>
          <p:cNvPr id="340251534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2269359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fill="norm" stroke="1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fill="norm" stroke="1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fill="norm" stroke="1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fill="norm" stroke="1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fill="norm" stroke="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fill="norm" stroke="1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fill="norm" stroke="1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fill="norm" stroke="1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fill="norm" stroke="1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912431046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fill="norm" stroke="1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fill="norm" stroke="1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fill="norm" stroke="1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fill="norm" stroke="1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fill="norm" stroke="1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fill="norm" stroke="1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fill="norm" stroke="1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733510543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fill="norm" stroke="1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fill="norm" stroke="1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fill="norm" stroke="1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fill="norm" stroke="1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fill="norm" stroke="1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fill="norm" stroke="1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fill="norm" stroke="1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fill="norm" stroke="1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209000709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664984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ДОПОЛНИТЕЛЬНЫЙ ФУНКЦИОНАЛ (БОНУС 7%)</a:t>
            </a:r>
            <a:endParaRPr lang="ru-RU"/>
          </a:p>
        </p:txBody>
      </p:sp>
      <p:cxnSp>
        <p:nvCxnSpPr>
          <p:cNvPr id="431356367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131726" name="Скругленный прямоугольник 1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00361568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469180691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FF0053"/>
                </a:solidFill>
                <a:latin typeface="Montserrat"/>
              </a:defRPr>
            </a:pPr>
            <a:r>
              <a:t>ЭТАП 1: MVP (ХАКАТОН)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694122747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 wrap="square"/>
          <a:lstStyle/>
          <a:p>
            <a:pPr>
              <a:defRPr sz="900">
                <a:solidFill>
                  <a:srgbClr val="FFFFFF"/>
                </a:solidFill>
                <a:latin typeface="Montserrat"/>
              </a:defRPr>
            </a:pPr>
            <a:r>
              <a:t>Завершен: CAT 2PL IRT, Reverse Matching, Explainable AI, 152-ФЗ, Docker.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51459305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FF0053"/>
                </a:solidFill>
                <a:latin typeface="Montserrat"/>
              </a:defRPr>
            </a:pPr>
            <a:r>
              <a:t>ЭТАП 2: ПИЛОТ С ФСП (Q4 2026)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735258705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 wrap="square"/>
          <a:lstStyle/>
          <a:p>
            <a:pPr>
              <a:defRPr sz="900">
                <a:solidFill>
                  <a:srgbClr val="FFFFFF"/>
                </a:solidFill>
                <a:latin typeface="Montserrat"/>
              </a:defRPr>
            </a:pPr>
            <a:r>
              <a:t>Интеграция реестра соревнований, авторизация Keycloak (ФСП ID), закрытый пилот.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28130972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FF0053"/>
                </a:solidFill>
                <a:latin typeface="Montserrat"/>
              </a:defRPr>
            </a:pPr>
            <a:r>
              <a:t>ЭТАП 3: B2B ATS (Q1 2027)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31205317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 wrap="square"/>
          <a:lstStyle/>
          <a:p>
            <a:pPr>
              <a:defRPr sz="900">
                <a:solidFill>
                  <a:srgbClr val="FFFFFF"/>
                </a:solidFill>
                <a:latin typeface="Montserrat"/>
              </a:defRPr>
            </a:pPr>
            <a:r>
              <a:t>Двусторонние коннекторы к Huntflow, E-Staff, верификация работодателей по ИНН/ЕГРЮЛ.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94659143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FF0053"/>
                </a:solidFill>
                <a:latin typeface="Montserrat"/>
              </a:defRPr>
            </a:pPr>
            <a:r>
              <a:t>ЭТАП 4: МАСШТАБ (Q2 2027)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637435414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181340"/>
            <a:ext cx="2526079" cy="1120685"/>
          </a:xfrm>
        </p:spPr>
        <p:txBody>
          <a:bodyPr wrap="square"/>
          <a:lstStyle/>
          <a:p>
            <a:pPr>
              <a:defRPr sz="900">
                <a:solidFill>
                  <a:srgbClr val="FFFFFF"/>
                </a:solidFill>
                <a:latin typeface="Montserrat"/>
              </a:defRPr>
            </a:pPr>
            <a:r>
              <a:t>Расширение банка CAT до 1000+ шаблонов, запуск мобильных приложений iOS / Android.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61364905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defRPr sz="1100" b="1">
                <a:solidFill>
                  <a:srgbClr val="FF0053"/>
                </a:solidFill>
                <a:latin typeface="Montserrat"/>
              </a:defRPr>
            </a:pPr>
            <a:r>
              <a:t>ЭТАП 5: ЭКОСИСТЕМА (Q3 2027)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595543783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181340"/>
            <a:ext cx="2526079" cy="1120685"/>
          </a:xfrm>
        </p:spPr>
        <p:txBody>
          <a:bodyPr wrap="square"/>
          <a:lstStyle/>
          <a:p>
            <a:pPr>
              <a:defRPr sz="900">
                <a:solidFill>
                  <a:srgbClr val="FFFFFF"/>
                </a:solidFill>
                <a:latin typeface="Montserrat"/>
              </a:defRPr>
            </a:pPr>
            <a:r>
              <a:t>Федеральный карьерный трек, персональный AI-наставник спортивного программирования.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846467644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2820225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429791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590090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0130352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9113546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1469094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702149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237671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5321918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441667066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1396766167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186046727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327290341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121349744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ДОРОЖНАЯ КАРТА РАЗВИТИЯ ПРОЕКТА</a:t>
            </a:r>
            <a:endParaRPr lang="ru-RU"/>
          </a:p>
        </p:txBody>
      </p:sp>
      <p:sp>
        <p:nvSpPr>
          <p:cNvPr id="1989806966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693196754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131945496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072848951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447410897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529793" name="Скругленный прямоугольник 2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860751854" name="Рисунок 1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778252" y="904538"/>
            <a:ext cx="4551334" cy="3557364"/>
          </a:xfrm>
          <a:prstGeom prst="rect">
            <a:avLst/>
          </a:prstGeom>
        </p:spPr>
      </p:pic>
      <p:pic>
        <p:nvPicPr>
          <p:cNvPr id="906685197" name="Рисунок 1" descr="01_candidate_dashboard.png"/>
          <p:cNvPicPr>
            <a:picLocks noGrp="1" noChangeAspect="1"/>
          </p:cNvPicPr>
          <p:nvPr>
            <p:ph type="pic" sz="quarter" idx="14"/>
          </p:nvPr>
        </p:nvPicPr>
        <p:blipFill>
          <a:blip r:embed="rId5"/>
          <a:srcRect l="3260" r="3260"/>
          <a:stretch>
            <a:fillRect/>
          </a:stretch>
        </p:blipFill>
        <p:spPr/>
      </p:pic>
      <p:sp>
        <p:nvSpPr>
          <p:cNvPr id="169219679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356761264" name="Текст 3"/>
          <p:cNvSpPr>
            <a:spLocks noGrp="1"/>
          </p:cNvSpPr>
          <p:nvPr>
            <p:ph type="body" sz="quarter" idx="15"/>
          </p:nvPr>
        </p:nvSpPr>
        <p:spPr bwMode="auto"/>
        <p:txBody>
          <a:bodyPr wrap="square"/>
          <a:lstStyle/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Backend: FastAPI (Python 3.11), асинхронный SQLAlchemy 2.0, PostgreSQL с pgvector + авто-fallback на SQLite.</a:t>
            </a:r>
            <a:endParaRPr lang="ru-RU">
              <a:solidFill>
                <a:schemeClr val="tx1"/>
              </a:solidFill>
            </a:endParaR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Frontend: React 18, TypeScript, Tailwind CSS, Lucide Icons, сборка на Vite.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Контейнеризация: Docker Compose (&lt; 2 ГБ RAM, запуск одной командой `docker compose up --build -d`).</a:t>
            </a: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</a:p>
          <a:p>
            <a:pPr>
              <a:defRPr sz="1000" b="0">
                <a:solidFill>
                  <a:srgbClr val="FFFFFF"/>
                </a:solidFill>
                <a:latin typeface="Montserrat"/>
              </a:defRPr>
            </a:pPr>
            <a:r>
              <a:t>• Документация: Полная спецификация OpenAPI 3.1 (Swagger), архитектурный паспорт, 100% покрытие тестами.</a:t>
            </a:r>
          </a:p>
        </p:txBody>
      </p:sp>
      <p:sp>
        <p:nvSpPr>
          <p:cNvPr id="1958773618" name="Текст 4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1809107746" name="Текст 5"/>
          <p:cNvSpPr>
            <a:spLocks noGrp="1"/>
          </p:cNvSpPr>
          <p:nvPr>
            <p:ph type="body" sz="quarter" idx="17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solidFill>
                <a:schemeClr val="tx1"/>
              </a:solidFill>
            </a:endParaRPr>
          </a:p>
        </p:txBody>
      </p:sp>
      <p:sp>
        <p:nvSpPr>
          <p:cNvPr id="124632083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АРХИТЕКТУРА И ТЕХНОЛОГИЧЕСКИЙ СТЕК (7%)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040350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grpSp>
        <p:nvGrpSpPr>
          <p:cNvPr id="777490973" name="Group 82"/>
          <p:cNvGrpSpPr>
            <a:grpSpLocks noChangeAspect="1"/>
          </p:cNvGrpSpPr>
          <p:nvPr/>
        </p:nvGrpSpPr>
        <p:grpSpPr bwMode="auto"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fill="norm" stroke="1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/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www.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lider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.com</a:t>
              </a:r>
              <a:endParaRPr/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fill="norm" stroke="1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grpSp>
        <p:nvGrpSpPr>
          <p:cNvPr id="1165327119" name="Group 82"/>
          <p:cNvGrpSpPr>
            <a:grpSpLocks noChangeAspect="1"/>
          </p:cNvGrpSpPr>
          <p:nvPr/>
        </p:nvGrpSpPr>
        <p:grpSpPr bwMode="auto"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 bwMode="auto"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fill="norm" stroke="1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/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fill="norm" stroke="1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/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 bwMode="auto"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www.</a:t>
              </a:r>
              <a:r>
                <a:rPr lang="en-US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lider</a:t>
              </a:r>
              <a:r>
                <a:rPr lang="id-ID" sz="1000">
                  <a:solidFill>
                    <a:schemeClr val="tx1"/>
                  </a:solidFill>
                  <a:latin typeface="Poppins Light"/>
                  <a:ea typeface="Poppins Light"/>
                  <a:cs typeface="Poppins Light"/>
                </a:rPr>
                <a:t>.com</a:t>
              </a:r>
              <a:endParaRPr/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 fill="norm" stroke="1" extrusionOk="0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id-ID">
                <a:latin typeface="Lato Light"/>
              </a:endParaRPr>
            </a:p>
          </p:txBody>
        </p:sp>
      </p:grpSp>
      <p:sp>
        <p:nvSpPr>
          <p:cNvPr id="454391353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042396271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 wrap="square"/>
          <a:lstStyle/>
          <a:p>
            <a:pPr>
              <a:defRPr sz="1000">
                <a:solidFill>
                  <a:srgbClr val="FFFFFF"/>
                </a:solidFill>
                <a:latin typeface="Montserrat"/>
              </a:defRPr>
            </a:pPr>
            <a:r>
              <a:t>Панель работодателя: конструктор потребности, фильтрация по категориям и интерактивный скоринг.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476710998" name="Текст 3"/>
          <p:cNvSpPr>
            <a:spLocks noGrp="1"/>
          </p:cNvSpPr>
          <p:nvPr>
            <p:ph type="body" sz="quarter" idx="16"/>
          </p:nvPr>
        </p:nvSpPr>
        <p:spPr bwMode="auto"/>
        <p:txBody>
          <a:bodyPr wrap="square"/>
          <a:lstStyle/>
          <a:p>
            <a:pPr>
              <a:defRPr sz="1000">
                <a:solidFill>
                  <a:srgbClr val="FFFFFF"/>
                </a:solidFill>
                <a:latin typeface="Montserrat"/>
              </a:defRPr>
            </a:pPr>
            <a:r>
              <a:t>Explainable AI модальное окно: прозрачная декомпозиция всех факторов для каждого соискателя.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305433669" name="Рисунок 4" descr="08_employer_dashboard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10595" b="10595"/>
          <a:stretch>
            <a:fillRect/>
          </a:stretch>
        </p:blipFill>
        <p:spPr/>
      </p:pic>
      <p:pic>
        <p:nvPicPr>
          <p:cNvPr id="1834008175" name="Рисунок 5" descr="08_employer_dashboard.png"/>
          <p:cNvPicPr>
            <a:picLocks noGrp="1" noChangeAspect="1"/>
          </p:cNvPicPr>
          <p:nvPr>
            <p:ph type="pic" sz="quarter" idx="18"/>
          </p:nvPr>
        </p:nvPicPr>
        <p:blipFill>
          <a:blip r:embed="rId4"/>
          <a:srcRect t="10595" b="10595"/>
          <a:stretch>
            <a:fillRect/>
          </a:stretch>
        </p:blipFill>
        <p:spPr/>
      </p:pic>
      <p:sp>
        <p:nvSpPr>
          <p:cNvPr id="83807058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/>
          <a:lstStyle/>
          <a:p>
            <a:pPr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ЖИВОЙ ИНТЕРФЕЙС ПЛАТФОРМЫ PHAETON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6394" name="TextBox 7"/>
          <p:cNvSpPr txBox="1"/>
          <p:nvPr/>
        </p:nvSpPr>
        <p:spPr bwMode="auto">
          <a:xfrm>
            <a:off x="7433953" y="1435681"/>
            <a:ext cx="4986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Ссылка на репозиторий GitHub</a:t>
            </a:r>
            <a:endParaRPr/>
          </a:p>
        </p:txBody>
      </p:sp>
      <p:sp>
        <p:nvSpPr>
          <p:cNvPr id="1430841692" name="TextBox 8"/>
          <p:cNvSpPr txBox="1"/>
          <p:nvPr/>
        </p:nvSpPr>
        <p:spPr bwMode="auto">
          <a:xfrm>
            <a:off x="448795" y="2615219"/>
            <a:ext cx="4826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Развернутое решение и Docker</a:t>
            </a:r>
            <a:endParaRPr/>
          </a:p>
        </p:txBody>
      </p:sp>
      <p:sp>
        <p:nvSpPr>
          <p:cNvPr id="1079872817" name="TextBox 9"/>
          <p:cNvSpPr txBox="1"/>
          <p:nvPr/>
        </p:nvSpPr>
        <p:spPr bwMode="auto">
          <a:xfrm>
            <a:off x="7433953" y="4071305"/>
            <a:ext cx="4986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Контакты команды Phaeton</a:t>
            </a:r>
            <a:endParaRPr/>
          </a:p>
        </p:txBody>
      </p:sp>
      <p:sp>
        <p:nvSpPr>
          <p:cNvPr id="192376564" name="TextBox 10"/>
          <p:cNvSpPr txBox="1"/>
          <p:nvPr/>
        </p:nvSpPr>
        <p:spPr bwMode="auto">
          <a:xfrm>
            <a:off x="461395" y="5300055"/>
            <a:ext cx="4542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Сопроводительная документация</a:t>
            </a:r>
            <a:endParaRPr lang="ru-RU" sz="2400" u="sng">
              <a:solidFill>
                <a:srgbClr val="E4EAE9"/>
              </a:solidFill>
            </a:endParaRPr>
          </a:p>
        </p:txBody>
      </p:sp>
      <p:sp>
        <p:nvSpPr>
          <p:cNvPr id="1121460951" name="Прямоугольник 11"/>
          <p:cNvSpPr/>
          <p:nvPr/>
        </p:nvSpPr>
        <p:spPr bwMode="auto">
          <a:xfrm>
            <a:off x="611562" y="1316438"/>
            <a:ext cx="5361725" cy="76808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0053"/>
                </a:solidFill>
                <a:latin typeface="Montserrat"/>
              </a:defRPr>
            </a:pPr>
            <a:r>
              <a:t>https://github.com/Shtirlitc69/Hacaton_FSP_Phaeton</a:t>
            </a:r>
            <a:endParaRPr lang="ru-RU" sz="1850" u="sng">
              <a:solidFill>
                <a:srgbClr val="F92571"/>
              </a:solidFill>
            </a:endParaRPr>
          </a:p>
        </p:txBody>
      </p:sp>
      <p:sp>
        <p:nvSpPr>
          <p:cNvPr id="2003356840" name="ïśḷîďè"/>
          <p:cNvSpPr/>
          <p:nvPr/>
        </p:nvSpPr>
        <p:spPr bwMode="auto">
          <a:xfrm>
            <a:off x="6096000" y="1316438"/>
            <a:ext cx="1091713" cy="749932"/>
          </a:xfrm>
          <a:custGeom>
            <a:avLst/>
            <a:gdLst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300079 w 1636548"/>
              <a:gd name="connsiteY5" fmla="*/ 362493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12696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8720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53704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85490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6548" h="724986" fill="norm" stroke="1" extrusionOk="0">
                <a:moveTo>
                  <a:pt x="0" y="0"/>
                </a:moveTo>
                <a:lnTo>
                  <a:pt x="1121919" y="7951"/>
                </a:lnTo>
                <a:lnTo>
                  <a:pt x="1636548" y="362493"/>
                </a:lnTo>
                <a:lnTo>
                  <a:pt x="1185490" y="717034"/>
                </a:lnTo>
                <a:lnTo>
                  <a:pt x="0" y="724986"/>
                </a:lnTo>
                <a:cubicBezTo>
                  <a:pt x="1581" y="598349"/>
                  <a:pt x="3163" y="471713"/>
                  <a:pt x="4744" y="345076"/>
                </a:cubicBezTo>
                <a:cubicBezTo>
                  <a:pt x="3163" y="230051"/>
                  <a:pt x="1581" y="11502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latin typeface="Montserrat"/>
              <a:cs typeface="Arial"/>
            </a:endParaRPr>
          </a:p>
        </p:txBody>
      </p:sp>
      <p:sp>
        <p:nvSpPr>
          <p:cNvPr id="325586473" name="Прямоугольник 20"/>
          <p:cNvSpPr/>
          <p:nvPr/>
        </p:nvSpPr>
        <p:spPr bwMode="auto">
          <a:xfrm>
            <a:off x="6210795" y="2550636"/>
            <a:ext cx="5532410" cy="76808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0053"/>
                </a:solidFill>
                <a:latin typeface="Montserrat"/>
              </a:defRPr>
            </a:pPr>
            <a:r>
              <a:t>docker compose up --build -d (&lt;2 ГБ RAM)</a:t>
            </a:r>
            <a:endParaRPr lang="ru-RU" sz="1850" u="sng">
              <a:solidFill>
                <a:srgbClr val="F92571"/>
              </a:solidFill>
            </a:endParaRPr>
          </a:p>
        </p:txBody>
      </p:sp>
      <p:sp>
        <p:nvSpPr>
          <p:cNvPr id="296993552" name="ïśḷîďè"/>
          <p:cNvSpPr/>
          <p:nvPr/>
        </p:nvSpPr>
        <p:spPr bwMode="auto">
          <a:xfrm flipH="1">
            <a:off x="5004288" y="2550636"/>
            <a:ext cx="1091713" cy="768085"/>
          </a:xfrm>
          <a:custGeom>
            <a:avLst/>
            <a:gdLst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300079 w 1636548"/>
              <a:gd name="connsiteY5" fmla="*/ 362493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12696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8720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53704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85490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6548" h="724986" fill="norm" stroke="1" extrusionOk="0">
                <a:moveTo>
                  <a:pt x="0" y="0"/>
                </a:moveTo>
                <a:lnTo>
                  <a:pt x="1121919" y="7951"/>
                </a:lnTo>
                <a:lnTo>
                  <a:pt x="1636548" y="362493"/>
                </a:lnTo>
                <a:lnTo>
                  <a:pt x="1185490" y="717034"/>
                </a:lnTo>
                <a:lnTo>
                  <a:pt x="0" y="724986"/>
                </a:lnTo>
                <a:cubicBezTo>
                  <a:pt x="1581" y="598349"/>
                  <a:pt x="3163" y="471713"/>
                  <a:pt x="4744" y="345076"/>
                </a:cubicBezTo>
                <a:cubicBezTo>
                  <a:pt x="3163" y="230051"/>
                  <a:pt x="1581" y="11502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latin typeface="Montserrat"/>
              <a:cs typeface="Arial"/>
            </a:endParaRPr>
          </a:p>
        </p:txBody>
      </p:sp>
      <p:sp>
        <p:nvSpPr>
          <p:cNvPr id="1777681720" name="Прямоугольник 22"/>
          <p:cNvSpPr/>
          <p:nvPr/>
        </p:nvSpPr>
        <p:spPr bwMode="auto">
          <a:xfrm>
            <a:off x="611562" y="3933484"/>
            <a:ext cx="5361726" cy="76808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0053"/>
                </a:solidFill>
                <a:latin typeface="Montserrat"/>
              </a:defRPr>
            </a:pPr>
            <a:r>
              <a:t>Telegram: @phaeton_lead | @elizaveta_lct</a:t>
            </a:r>
            <a:endParaRPr lang="ru-RU" sz="1850">
              <a:solidFill>
                <a:srgbClr val="F92571"/>
              </a:solidFill>
            </a:endParaRPr>
          </a:p>
        </p:txBody>
      </p:sp>
      <p:sp>
        <p:nvSpPr>
          <p:cNvPr id="2081785148" name="ïśḷîďè"/>
          <p:cNvSpPr/>
          <p:nvPr/>
        </p:nvSpPr>
        <p:spPr bwMode="auto">
          <a:xfrm>
            <a:off x="6095999" y="3933484"/>
            <a:ext cx="1091713" cy="768085"/>
          </a:xfrm>
          <a:custGeom>
            <a:avLst/>
            <a:gdLst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300079 w 1636548"/>
              <a:gd name="connsiteY5" fmla="*/ 362493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12696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8720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53704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85490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6548" h="724986" fill="norm" stroke="1" extrusionOk="0">
                <a:moveTo>
                  <a:pt x="0" y="0"/>
                </a:moveTo>
                <a:lnTo>
                  <a:pt x="1121919" y="7951"/>
                </a:lnTo>
                <a:lnTo>
                  <a:pt x="1636548" y="362493"/>
                </a:lnTo>
                <a:lnTo>
                  <a:pt x="1185490" y="717034"/>
                </a:lnTo>
                <a:lnTo>
                  <a:pt x="0" y="724986"/>
                </a:lnTo>
                <a:cubicBezTo>
                  <a:pt x="1581" y="598349"/>
                  <a:pt x="3163" y="471713"/>
                  <a:pt x="4744" y="345076"/>
                </a:cubicBezTo>
                <a:cubicBezTo>
                  <a:pt x="3163" y="230051"/>
                  <a:pt x="1581" y="11502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latin typeface="Montserrat"/>
              <a:cs typeface="Arial"/>
            </a:endParaRPr>
          </a:p>
        </p:txBody>
      </p:sp>
      <p:sp>
        <p:nvSpPr>
          <p:cNvPr id="817518543" name="Прямоугольник 24"/>
          <p:cNvSpPr/>
          <p:nvPr/>
        </p:nvSpPr>
        <p:spPr bwMode="auto">
          <a:xfrm>
            <a:off x="6210795" y="5250683"/>
            <a:ext cx="5532410" cy="76808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0053"/>
                </a:solidFill>
                <a:latin typeface="Montserrat"/>
              </a:defRPr>
            </a:pPr>
            <a:r>
              <a:t>docs/FSP_Phaeton_Platform_Documentation.pdf</a:t>
            </a:r>
            <a:endParaRPr lang="ru-RU" sz="1400">
              <a:solidFill>
                <a:srgbClr val="F92571"/>
              </a:solidFill>
            </a:endParaRPr>
          </a:p>
        </p:txBody>
      </p:sp>
      <p:sp>
        <p:nvSpPr>
          <p:cNvPr id="823556745" name="ïśḷîďè"/>
          <p:cNvSpPr/>
          <p:nvPr/>
        </p:nvSpPr>
        <p:spPr bwMode="auto">
          <a:xfrm flipH="1">
            <a:off x="5004288" y="5250683"/>
            <a:ext cx="1091713" cy="768085"/>
          </a:xfrm>
          <a:custGeom>
            <a:avLst/>
            <a:gdLst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300079 w 1636548"/>
              <a:gd name="connsiteY5" fmla="*/ 362493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12696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8720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53704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85490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6548" h="724986" fill="norm" stroke="1" extrusionOk="0">
                <a:moveTo>
                  <a:pt x="0" y="0"/>
                </a:moveTo>
                <a:lnTo>
                  <a:pt x="1121919" y="7951"/>
                </a:lnTo>
                <a:lnTo>
                  <a:pt x="1636548" y="362493"/>
                </a:lnTo>
                <a:lnTo>
                  <a:pt x="1185490" y="717034"/>
                </a:lnTo>
                <a:lnTo>
                  <a:pt x="0" y="724986"/>
                </a:lnTo>
                <a:cubicBezTo>
                  <a:pt x="1581" y="598349"/>
                  <a:pt x="3163" y="471713"/>
                  <a:pt x="4744" y="345076"/>
                </a:cubicBezTo>
                <a:cubicBezTo>
                  <a:pt x="3163" y="230051"/>
                  <a:pt x="1581" y="11502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sz="2400">
              <a:latin typeface="Montserrat"/>
              <a:cs typeface="Arial"/>
            </a:endParaRPr>
          </a:p>
        </p:txBody>
      </p:sp>
      <p:sp>
        <p:nvSpPr>
          <p:cNvPr id="526825403" name="Номер слайда 13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30</a:t>
            </a:fld>
            <a:endParaRPr lang="ru-RU"/>
          </a:p>
        </p:txBody>
      </p:sp>
      <p:sp>
        <p:nvSpPr>
          <p:cNvPr id="1325882594" name="Заголовок 12"/>
          <p:cNvSpPr>
            <a:spLocks noGrp="1"/>
          </p:cNvSpPr>
          <p:nvPr>
            <p:ph type="title" idx="4294967295"/>
          </p:nvPr>
        </p:nvSpPr>
        <p:spPr bwMode="auto">
          <a:xfrm>
            <a:off x="527655" y="409507"/>
            <a:ext cx="6054725" cy="376237"/>
          </a:xfrm>
        </p:spPr>
        <p:txBody>
          <a:bodyPr wrap="square"/>
          <a:lstStyle/>
          <a:p>
            <a:pPr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ИТОГИ И МАТЕРИАЛЫ СДАЧИ ПРОЕКТА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98</cp:revision>
  <dcterms:created xsi:type="dcterms:W3CDTF">2023-05-15T07:36:23Z</dcterms:created>
  <dcterms:modified xsi:type="dcterms:W3CDTF">2026-10-11T07:09:57Z</dcterms:modified>
</cp:coreProperties>
</file>